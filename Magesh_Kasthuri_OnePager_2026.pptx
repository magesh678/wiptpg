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682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DEDCC7-5C92-1F39-F9DF-A28A48906A5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3714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201168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Magesh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Kasthuri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4592" y="115214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Ph.D. | Deep Learning &amp; Genetic Algorithms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164592" y="1481328"/>
            <a:ext cx="2596896" cy="18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64592" y="1572768"/>
            <a:ext cx="259689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Distinguished Member of Technical Staff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(Master) — Top 25 Technologist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Architect (Cloud) &amp; Chief Technologist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 Limited, Bengaluru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4592" y="2423160"/>
            <a:ext cx="2596896" cy="18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64592" y="2487168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4592" y="2706624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Generative AI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4592" y="2953512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Architecture (AWS / Azure / GCP)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64592" y="3200400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SLM Development &amp; Optimization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64592" y="3447288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BFSI Architecture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" y="3694176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Distributed Ledger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4592" y="3941064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Data, FinOps &amp; GreenOps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64592" y="4187952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DevOps, Microservices &amp; Cloud Native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4592" y="4434840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&amp; IoT/Edge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64592" y="4681728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&amp; Data Architecture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64592" y="4992624"/>
            <a:ext cx="2596896" cy="18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64592" y="504748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64592" y="5266944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linkedin.com/in/magesh-kasthuri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64592" y="5513832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cio.com/profile/magesh-kasthuri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64592" y="5760720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cxotechmagazine.com/…/dr-magesh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64592" y="6007608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orcid.org/0000-0001-9581-2543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926080" y="0"/>
            <a:ext cx="9235440" cy="502920"/>
          </a:xfrm>
          <a:prstGeom prst="rect">
            <a:avLst/>
          </a:prstGeom>
          <a:solidFill>
            <a:srgbClr val="0D2640"/>
          </a:solidFill>
          <a:ln w="12700">
            <a:solidFill>
              <a:srgbClr val="0D26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063240" y="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26+ Years IT Experience  •  22+ Years at Wipro  •  IEEE &amp; ACM Senior Member  •  Top 25 Technologist at Wipro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971800" y="566928"/>
            <a:ext cx="1005840" cy="731520"/>
          </a:xfrm>
          <a:prstGeom prst="rect">
            <a:avLst/>
          </a:prstGeom>
          <a:solidFill>
            <a:srgbClr val="EEF3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971800" y="6035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971800" y="9692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CIO.com Articles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014216" y="566928"/>
            <a:ext cx="1005840" cy="731520"/>
          </a:xfrm>
          <a:prstGeom prst="rect">
            <a:avLst/>
          </a:prstGeom>
          <a:solidFill>
            <a:srgbClr val="EEF3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014216" y="6035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014216" y="9692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CXOTech Articles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5056632" y="566928"/>
            <a:ext cx="1005840" cy="731520"/>
          </a:xfrm>
          <a:prstGeom prst="rect">
            <a:avLst/>
          </a:prstGeom>
          <a:solidFill>
            <a:srgbClr val="EEF3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056632" y="6035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056632" y="9692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 &amp; Gov Articles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099048" y="566928"/>
            <a:ext cx="1005840" cy="731520"/>
          </a:xfrm>
          <a:prstGeom prst="rect">
            <a:avLst/>
          </a:prstGeom>
          <a:solidFill>
            <a:srgbClr val="EEF3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099048" y="6035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099048" y="9692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For You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141464" y="566928"/>
            <a:ext cx="1005840" cy="731520"/>
          </a:xfrm>
          <a:prstGeom prst="rect">
            <a:avLst/>
          </a:prstGeom>
          <a:solidFill>
            <a:srgbClr val="EEF3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141464" y="6035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7141464" y="9692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 Tech Blogs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8183880" y="566928"/>
            <a:ext cx="1005840" cy="731520"/>
          </a:xfrm>
          <a:prstGeom prst="rect">
            <a:avLst/>
          </a:prstGeom>
          <a:solidFill>
            <a:srgbClr val="EEF3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183880" y="6035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8183880" y="9692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Shorticles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9226296" y="566928"/>
            <a:ext cx="1005840" cy="731520"/>
          </a:xfrm>
          <a:prstGeom prst="rect">
            <a:avLst/>
          </a:prstGeom>
          <a:solidFill>
            <a:srgbClr val="EEF3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9226296" y="6035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9226296" y="9692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Publications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0268712" y="566928"/>
            <a:ext cx="1005840" cy="731520"/>
          </a:xfrm>
          <a:prstGeom prst="rect">
            <a:avLst/>
          </a:prstGeom>
          <a:solidFill>
            <a:srgbClr val="EEF3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10268712" y="6035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10268712" y="9692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US/Euro Patents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1311128" y="566928"/>
            <a:ext cx="1005840" cy="731520"/>
          </a:xfrm>
          <a:prstGeom prst="rect">
            <a:avLst/>
          </a:prstGeom>
          <a:solidFill>
            <a:srgbClr val="EEF3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11311128" y="6035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11311128" y="9692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Books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971800" y="1389888"/>
            <a:ext cx="9144000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063240" y="138988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BY PLATFORM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971800" y="1664208"/>
            <a:ext cx="9144000" cy="256032"/>
          </a:xfrm>
          <a:prstGeom prst="rect">
            <a:avLst/>
          </a:prstGeom>
          <a:solidFill>
            <a:srgbClr val="EEF3FA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3035808" y="16824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CIO.com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074920" y="16824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articles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126480" y="168249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AI, LLMs, SDLC, Enterprise Architecture, Cloud FinOps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971800" y="1938528"/>
            <a:ext cx="9144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3035808" y="19568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CXOTech Magazine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074920" y="19568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 articles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126480" y="195681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GenAI, FinOps, SDLC Innovation, SLMs, AI CoE, Vibe Coding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2971800" y="2212848"/>
            <a:ext cx="9144000" cy="256032"/>
          </a:xfrm>
          <a:prstGeom prst="rect">
            <a:avLst/>
          </a:prstGeom>
          <a:solidFill>
            <a:srgbClr val="EEF3FA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3035808" y="22311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Governance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074920" y="22311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articles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6126480" y="223113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GenAI, Cloud, FinOps/GreenOps, Microservices, LLM/SLM, BFSI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971800" y="2487168"/>
            <a:ext cx="9144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3035808" y="25054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For You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074920" y="250545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articles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126480" y="250545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Blockchain, AI/ML, Java, Quantum Computing, DevOps, IoT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2971800" y="2761488"/>
            <a:ext cx="9144000" cy="256032"/>
          </a:xfrm>
          <a:prstGeom prst="rect">
            <a:avLst/>
          </a:prstGeom>
          <a:solidFill>
            <a:srgbClr val="EEF3FA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3035808" y="27797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 Tech Blogs (Medium)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074920" y="277977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articles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6126480" y="277977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AI, AWS/Azure/GCP, FinOps, BFSI, Multi-agent solutions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971800" y="3035808"/>
            <a:ext cx="9144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3035808" y="30540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DZone + Enlore + Tealfeed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074920" y="30540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articles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126480" y="305409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Kubernetes, Java, FinOps, Cloud Strategy, GenAI, Multi-cloud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971800" y="3310128"/>
            <a:ext cx="9144000" cy="256032"/>
          </a:xfrm>
          <a:prstGeom prst="rect">
            <a:avLst/>
          </a:prstGeom>
          <a:solidFill>
            <a:srgbClr val="EEF3FA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3035808" y="33284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Journals (SCOPUS/Springer/IEEE)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5074920" y="33284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papers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6126480" y="332841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Learning, Blockchain, Agentic AI, BFSI, RL, BCI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971800" y="3584448"/>
            <a:ext cx="9144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3035808" y="360273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Cutter IT Journal (US)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5074920" y="360273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articles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6126480" y="360273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as a Service, FinTech Architecture, SmartCity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971800" y="3913632"/>
            <a:ext cx="9144000" cy="2377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3063240" y="3913632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HIGHLIGHTS &amp; RECOGNITION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2971800" y="4187952"/>
            <a:ext cx="9144000" cy="256032"/>
          </a:xfrm>
          <a:prstGeom prst="rect">
            <a:avLst/>
          </a:prstGeom>
          <a:solidFill>
            <a:srgbClr val="EEF3FA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2971800" y="4187952"/>
            <a:ext cx="54864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3090672" y="42062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 Top 25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4407408" y="4206240"/>
            <a:ext cx="7662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to DMTS Master (Top 25 Technologist) from 2019; Global Charter Lead from 2025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2971800" y="4462272"/>
            <a:ext cx="9144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Shape 92"/>
          <p:cNvSpPr/>
          <p:nvPr/>
        </p:nvSpPr>
        <p:spPr>
          <a:xfrm>
            <a:off x="2971800" y="4462272"/>
            <a:ext cx="54864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3090672" y="448056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4407408" y="4480560"/>
            <a:ext cx="7662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US/Euro patents in AI, Cloud &amp; Blockchain — inventor of Wipro's first Blockchain patent</a:t>
            </a:r>
            <a:endParaRPr lang="en-US" sz="800" dirty="0"/>
          </a:p>
        </p:txBody>
      </p:sp>
      <p:sp>
        <p:nvSpPr>
          <p:cNvPr id="97" name="Shape 95"/>
          <p:cNvSpPr/>
          <p:nvPr/>
        </p:nvSpPr>
        <p:spPr>
          <a:xfrm>
            <a:off x="2971800" y="4736592"/>
            <a:ext cx="9144000" cy="256032"/>
          </a:xfrm>
          <a:prstGeom prst="rect">
            <a:avLst/>
          </a:prstGeom>
          <a:solidFill>
            <a:srgbClr val="EEF3FA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Shape 96"/>
          <p:cNvSpPr/>
          <p:nvPr/>
        </p:nvSpPr>
        <p:spPr>
          <a:xfrm>
            <a:off x="2971800" y="4736592"/>
            <a:ext cx="54864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3090672" y="475488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Awards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4407408" y="4754880"/>
            <a:ext cx="7662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8x Best Knowledge Expert; 2x Outstanding Contribution (Zurich); 2x Credit Suisse Excellence Award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2971800" y="5010912"/>
            <a:ext cx="9144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2" name="Shape 100"/>
          <p:cNvSpPr/>
          <p:nvPr/>
        </p:nvSpPr>
        <p:spPr>
          <a:xfrm>
            <a:off x="2971800" y="5010912"/>
            <a:ext cx="54864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101"/>
          <p:cNvSpPr/>
          <p:nvPr/>
        </p:nvSpPr>
        <p:spPr>
          <a:xfrm>
            <a:off x="3090672" y="50292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4407408" y="5029200"/>
            <a:ext cx="7662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published books (Shorticle series in 7 languages); 2 book chapters in Wiley &amp; Springer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2971800" y="5285232"/>
            <a:ext cx="9144000" cy="256032"/>
          </a:xfrm>
          <a:prstGeom prst="rect">
            <a:avLst/>
          </a:prstGeom>
          <a:solidFill>
            <a:srgbClr val="EEF3FA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Shape 104"/>
          <p:cNvSpPr/>
          <p:nvPr/>
        </p:nvSpPr>
        <p:spPr>
          <a:xfrm>
            <a:off x="2971800" y="5285232"/>
            <a:ext cx="54864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3090672" y="530352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4407408" y="5303520"/>
            <a:ext cx="7662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Invited speaker at international conferences in Zurich, Switzerland &amp; IEEE ComSoc Bangalore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2971800" y="5559552"/>
            <a:ext cx="9144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0" name="Shape 108"/>
          <p:cNvSpPr/>
          <p:nvPr/>
        </p:nvSpPr>
        <p:spPr>
          <a:xfrm>
            <a:off x="2971800" y="5559552"/>
            <a:ext cx="54864" cy="2560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3090672" y="55778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4407408" y="5577840"/>
            <a:ext cx="7662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in SCOPUS, Springer, IEEE, AJCST journals; cited on Google Scholar &amp; ResearchGate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2971800" y="5669280"/>
            <a:ext cx="9144000" cy="237744"/>
          </a:xfrm>
          <a:prstGeom prst="rect">
            <a:avLst/>
          </a:prstGeom>
          <a:solidFill>
            <a:srgbClr val="0D2640"/>
          </a:solidFill>
          <a:ln w="12700">
            <a:solidFill>
              <a:srgbClr val="0D26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Text 112"/>
          <p:cNvSpPr/>
          <p:nvPr/>
        </p:nvSpPr>
        <p:spPr>
          <a:xfrm>
            <a:off x="3063240" y="5669280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CERTIFICATIONS</a:t>
            </a:r>
            <a:endParaRPr lang="en-US" sz="850" dirty="0"/>
          </a:p>
        </p:txBody>
      </p:sp>
      <p:sp>
        <p:nvSpPr>
          <p:cNvPr id="115" name="Text 113"/>
          <p:cNvSpPr/>
          <p:nvPr/>
        </p:nvSpPr>
        <p:spPr>
          <a:xfrm>
            <a:off x="3063240" y="5943600"/>
            <a:ext cx="9006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780" dirty="0">
                <a:solidFill>
                  <a:srgbClr val="0D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Microsoft: Azure Architect, AI Engineer, Data Scientist, Certified Trainer</a:t>
            </a:r>
            <a:endParaRPr lang="en-US" sz="780" dirty="0"/>
          </a:p>
        </p:txBody>
      </p:sp>
      <p:sp>
        <p:nvSpPr>
          <p:cNvPr id="116" name="Text 114"/>
          <p:cNvSpPr/>
          <p:nvPr/>
        </p:nvSpPr>
        <p:spPr>
          <a:xfrm>
            <a:off x="3063240" y="6163056"/>
            <a:ext cx="9006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780" dirty="0">
                <a:solidFill>
                  <a:srgbClr val="0D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AWS: ML Specialty, Architect Associate  |  Google: Digital Leader  |  Oracle: GenAI &amp; Vector AI Professional</a:t>
            </a:r>
            <a:endParaRPr lang="en-US" sz="780" dirty="0"/>
          </a:p>
        </p:txBody>
      </p:sp>
      <p:sp>
        <p:nvSpPr>
          <p:cNvPr id="117" name="Text 115"/>
          <p:cNvSpPr/>
          <p:nvPr/>
        </p:nvSpPr>
        <p:spPr>
          <a:xfrm>
            <a:off x="3063240" y="6382512"/>
            <a:ext cx="9006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780" dirty="0">
                <a:solidFill>
                  <a:srgbClr val="0D2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Certified Practitioner &amp; FOCUS Analyst  |  IBM: Big Data Architect  |  Blockchain Council Certified Expert V2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524</Words>
  <Application>Microsoft Office PowerPoint</Application>
  <PresentationFormat>Widescreen</PresentationFormat>
  <Paragraphs>84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Magesh Kasthuri – Professional Profile</dc:title>
  <dc:subject>PptxGenJS Presentation</dc:subject>
  <dc:creator>Dr. Magesh Kasthuri</dc:creator>
  <cp:lastModifiedBy>Dr. Magesh Kasthuri</cp:lastModifiedBy>
  <cp:revision>2</cp:revision>
  <dcterms:created xsi:type="dcterms:W3CDTF">2026-06-01T12:23:00Z</dcterms:created>
  <dcterms:modified xsi:type="dcterms:W3CDTF">2026-06-01T12:34:07Z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e7ded32-6a8c-48b8-8009-ebf9a4e0e083_Enabled">
    <vt:lpwstr>true</vt:lpwstr>
  </property>
  <property fmtid="{D5CDD505-2E9C-101B-9397-08002B2CF9AE}" pid="3" name="MSIP_Label_ce7ded32-6a8c-48b8-8009-ebf9a4e0e083_SetDate">
    <vt:lpwstr>2026-06-01T12:34:05Z</vt:lpwstr>
  </property>
  <property fmtid="{D5CDD505-2E9C-101B-9397-08002B2CF9AE}" pid="4" name="MSIP_Label_ce7ded32-6a8c-48b8-8009-ebf9a4e0e083_Method">
    <vt:lpwstr>Privileged</vt:lpwstr>
  </property>
  <property fmtid="{D5CDD505-2E9C-101B-9397-08002B2CF9AE}" pid="5" name="MSIP_Label_ce7ded32-6a8c-48b8-8009-ebf9a4e0e083_Name">
    <vt:lpwstr>Public - Public</vt:lpwstr>
  </property>
  <property fmtid="{D5CDD505-2E9C-101B-9397-08002B2CF9AE}" pid="6" name="MSIP_Label_ce7ded32-6a8c-48b8-8009-ebf9a4e0e083_SiteId">
    <vt:lpwstr>258ac4e4-146a-411e-9dc8-79a9e12fd6da</vt:lpwstr>
  </property>
  <property fmtid="{D5CDD505-2E9C-101B-9397-08002B2CF9AE}" pid="7" name="MSIP_Label_ce7ded32-6a8c-48b8-8009-ebf9a4e0e083_ActionId">
    <vt:lpwstr>75e05d40-1eb6-46d6-9fa0-8bb2de03d3e3</vt:lpwstr>
  </property>
  <property fmtid="{D5CDD505-2E9C-101B-9397-08002B2CF9AE}" pid="8" name="MSIP_Label_ce7ded32-6a8c-48b8-8009-ebf9a4e0e083_ContentBits">
    <vt:lpwstr>2</vt:lpwstr>
  </property>
  <property fmtid="{D5CDD505-2E9C-101B-9397-08002B2CF9AE}" pid="9" name="MSIP_Label_ce7ded32-6a8c-48b8-8009-ebf9a4e0e083_Tag">
    <vt:lpwstr>10, 0, 1, 1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Public</vt:lpwstr>
  </property>
</Properties>
</file>