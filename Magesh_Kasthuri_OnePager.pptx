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932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53F497-E510-3BBF-2623-3B09B6BC031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3714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jp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0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164592" y="164592"/>
            <a:ext cx="2596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Magesh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Kasthuri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64592" y="432816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Ph.D. | Deep Learning &amp; Genetic Algorithms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64592" y="2015744"/>
            <a:ext cx="2596896" cy="182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64592" y="1979168"/>
            <a:ext cx="25968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Distinguished Member of Technical Staff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(Master) — Top 25 Technologist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Architect (Cloud) &amp; Chief Technologist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Wipro Limited, Bengaluru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64592" y="2663952"/>
            <a:ext cx="2596896" cy="182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64592" y="2718816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64592" y="291998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&amp; Generative AI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64592" y="3153156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Architecture (AWS / Azure / GCP)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64592" y="3386328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/ SLM Development &amp; Optimization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64592" y="3619500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&amp; BFSI Architecture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64592" y="3852672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&amp; Distributed Ledger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64592" y="40858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Data, FinOps &amp; GreenOps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64592" y="4319016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DevOps, Microservices &amp; Cloud Native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64592" y="4552188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 </a:t>
            </a: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 &amp; IoT / Edge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64592" y="4895088"/>
            <a:ext cx="2596896" cy="182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164592" y="4940808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LINKS</a:t>
            </a:r>
            <a:endParaRPr lang="en-US" sz="8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5169408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20624" y="5169408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linkedin.com/in/magesh-kasthuri</a:t>
            </a:r>
            <a:endParaRPr lang="en-US" sz="75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" y="5443728"/>
            <a:ext cx="201168" cy="20116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20624" y="5443728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cio.com/profile/magesh-kasthuri</a:t>
            </a:r>
            <a:endParaRPr lang="en-US" sz="75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592" y="5718048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20624" y="5718048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cxotechmagazine.com/…/dr-magesh</a:t>
            </a:r>
            <a:endParaRPr lang="en-US" sz="75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592" y="5992368"/>
            <a:ext cx="201168" cy="20116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20624" y="5992368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architectureandgovernance.com</a:t>
            </a:r>
            <a:endParaRPr lang="en-US" sz="75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592" y="6266688"/>
            <a:ext cx="201168" cy="20116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20624" y="6266688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Scholar | ResearchGate</a:t>
            </a:r>
            <a:endParaRPr lang="en-US" sz="75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592" y="6541008"/>
            <a:ext cx="201168" cy="20116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20624" y="6541008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orcid.org/0000-0001-9581-2543</a:t>
            </a:r>
            <a:endParaRPr lang="en-US" sz="750" dirty="0"/>
          </a:p>
        </p:txBody>
      </p:sp>
      <p:sp>
        <p:nvSpPr>
          <p:cNvPr id="31" name="Shape 23"/>
          <p:cNvSpPr/>
          <p:nvPr/>
        </p:nvSpPr>
        <p:spPr>
          <a:xfrm>
            <a:off x="2926080" y="0"/>
            <a:ext cx="9235440" cy="438912"/>
          </a:xfrm>
          <a:prstGeom prst="rect">
            <a:avLst/>
          </a:prstGeom>
          <a:solidFill>
            <a:srgbClr val="0D2640"/>
          </a:solidFill>
          <a:ln w="12700">
            <a:solidFill>
              <a:srgbClr val="0D26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4"/>
          <p:cNvSpPr/>
          <p:nvPr/>
        </p:nvSpPr>
        <p:spPr>
          <a:xfrm>
            <a:off x="3063240" y="0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26+ Years IT Experience  •  22+ Years at Wipro  •  IEEE &amp; ACM Senior Member  •  Global Charter Lead for DMTS Community 2025</a:t>
            </a:r>
            <a:endParaRPr lang="en-US" sz="900" dirty="0"/>
          </a:p>
        </p:txBody>
      </p:sp>
      <p:sp>
        <p:nvSpPr>
          <p:cNvPr id="33" name="Shape 25"/>
          <p:cNvSpPr/>
          <p:nvPr/>
        </p:nvSpPr>
        <p:spPr>
          <a:xfrm>
            <a:off x="2971800" y="502920"/>
            <a:ext cx="1005840" cy="713232"/>
          </a:xfrm>
          <a:prstGeom prst="rect">
            <a:avLst/>
          </a:prstGeom>
          <a:solidFill>
            <a:srgbClr val="EEF3FA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26"/>
          <p:cNvSpPr/>
          <p:nvPr/>
        </p:nvSpPr>
        <p:spPr>
          <a:xfrm>
            <a:off x="2971800" y="52120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000" dirty="0"/>
          </a:p>
        </p:txBody>
      </p:sp>
      <p:sp>
        <p:nvSpPr>
          <p:cNvPr id="35" name="Text 27"/>
          <p:cNvSpPr/>
          <p:nvPr/>
        </p:nvSpPr>
        <p:spPr>
          <a:xfrm>
            <a:off x="2971800" y="8869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CIO.com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</a:t>
            </a:r>
            <a:endParaRPr lang="en-US" sz="680" dirty="0"/>
          </a:p>
        </p:txBody>
      </p:sp>
      <p:sp>
        <p:nvSpPr>
          <p:cNvPr id="36" name="Shape 28"/>
          <p:cNvSpPr/>
          <p:nvPr/>
        </p:nvSpPr>
        <p:spPr>
          <a:xfrm>
            <a:off x="4005072" y="502920"/>
            <a:ext cx="1005840" cy="713232"/>
          </a:xfrm>
          <a:prstGeom prst="rect">
            <a:avLst/>
          </a:prstGeom>
          <a:solidFill>
            <a:srgbClr val="EEF3FA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29"/>
          <p:cNvSpPr/>
          <p:nvPr/>
        </p:nvSpPr>
        <p:spPr>
          <a:xfrm>
            <a:off x="4005072" y="52120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16+</a:t>
            </a:r>
            <a:endParaRPr lang="en-US" sz="2000" dirty="0"/>
          </a:p>
        </p:txBody>
      </p:sp>
      <p:sp>
        <p:nvSpPr>
          <p:cNvPr id="38" name="Text 30"/>
          <p:cNvSpPr/>
          <p:nvPr/>
        </p:nvSpPr>
        <p:spPr>
          <a:xfrm>
            <a:off x="4005072" y="8869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CXOTech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</a:t>
            </a:r>
            <a:endParaRPr lang="en-US" sz="680" dirty="0"/>
          </a:p>
        </p:txBody>
      </p:sp>
      <p:sp>
        <p:nvSpPr>
          <p:cNvPr id="39" name="Shape 31"/>
          <p:cNvSpPr/>
          <p:nvPr/>
        </p:nvSpPr>
        <p:spPr>
          <a:xfrm>
            <a:off x="5038344" y="502920"/>
            <a:ext cx="1005840" cy="713232"/>
          </a:xfrm>
          <a:prstGeom prst="rect">
            <a:avLst/>
          </a:prstGeom>
          <a:solidFill>
            <a:srgbClr val="EEF3FA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2"/>
          <p:cNvSpPr/>
          <p:nvPr/>
        </p:nvSpPr>
        <p:spPr>
          <a:xfrm>
            <a:off x="5038344" y="52120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18+</a:t>
            </a:r>
            <a:endParaRPr lang="en-US" sz="2000" dirty="0"/>
          </a:p>
        </p:txBody>
      </p:sp>
      <p:sp>
        <p:nvSpPr>
          <p:cNvPr id="41" name="Text 33"/>
          <p:cNvSpPr/>
          <p:nvPr/>
        </p:nvSpPr>
        <p:spPr>
          <a:xfrm>
            <a:off x="5038344" y="8869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 &amp; Gov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</a:t>
            </a:r>
            <a:endParaRPr lang="en-US" sz="680" dirty="0"/>
          </a:p>
        </p:txBody>
      </p:sp>
      <p:sp>
        <p:nvSpPr>
          <p:cNvPr id="42" name="Shape 34"/>
          <p:cNvSpPr/>
          <p:nvPr/>
        </p:nvSpPr>
        <p:spPr>
          <a:xfrm>
            <a:off x="6071616" y="502920"/>
            <a:ext cx="1005840" cy="713232"/>
          </a:xfrm>
          <a:prstGeom prst="rect">
            <a:avLst/>
          </a:prstGeom>
          <a:solidFill>
            <a:srgbClr val="EEF3FA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35"/>
          <p:cNvSpPr/>
          <p:nvPr/>
        </p:nvSpPr>
        <p:spPr>
          <a:xfrm>
            <a:off x="6071616" y="52120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2000" dirty="0"/>
          </a:p>
        </p:txBody>
      </p:sp>
      <p:sp>
        <p:nvSpPr>
          <p:cNvPr id="44" name="Text 36"/>
          <p:cNvSpPr/>
          <p:nvPr/>
        </p:nvSpPr>
        <p:spPr>
          <a:xfrm>
            <a:off x="6071616" y="8869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</a:t>
            </a:r>
            <a:endParaRPr lang="en-US" sz="680" dirty="0"/>
          </a:p>
        </p:txBody>
      </p:sp>
      <p:sp>
        <p:nvSpPr>
          <p:cNvPr id="45" name="Shape 37"/>
          <p:cNvSpPr/>
          <p:nvPr/>
        </p:nvSpPr>
        <p:spPr>
          <a:xfrm>
            <a:off x="7104888" y="502920"/>
            <a:ext cx="1005840" cy="713232"/>
          </a:xfrm>
          <a:prstGeom prst="rect">
            <a:avLst/>
          </a:prstGeom>
          <a:solidFill>
            <a:srgbClr val="EEF3FA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38"/>
          <p:cNvSpPr/>
          <p:nvPr/>
        </p:nvSpPr>
        <p:spPr>
          <a:xfrm>
            <a:off x="7104888" y="52120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35+</a:t>
            </a:r>
            <a:endParaRPr lang="en-US" sz="2000" dirty="0"/>
          </a:p>
        </p:txBody>
      </p:sp>
      <p:sp>
        <p:nvSpPr>
          <p:cNvPr id="47" name="Text 39"/>
          <p:cNvSpPr/>
          <p:nvPr/>
        </p:nvSpPr>
        <p:spPr>
          <a:xfrm>
            <a:off x="7104888" y="8869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Wipro Tech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Blogs</a:t>
            </a:r>
            <a:endParaRPr lang="en-US" sz="680" dirty="0"/>
          </a:p>
        </p:txBody>
      </p:sp>
      <p:sp>
        <p:nvSpPr>
          <p:cNvPr id="48" name="Shape 40"/>
          <p:cNvSpPr/>
          <p:nvPr/>
        </p:nvSpPr>
        <p:spPr>
          <a:xfrm>
            <a:off x="8138160" y="502920"/>
            <a:ext cx="1005840" cy="713232"/>
          </a:xfrm>
          <a:prstGeom prst="rect">
            <a:avLst/>
          </a:prstGeom>
          <a:solidFill>
            <a:srgbClr val="EEF3FA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1"/>
          <p:cNvSpPr/>
          <p:nvPr/>
        </p:nvSpPr>
        <p:spPr>
          <a:xfrm>
            <a:off x="8138160" y="52120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1000+</a:t>
            </a:r>
            <a:endParaRPr lang="en-US" sz="2000" dirty="0"/>
          </a:p>
        </p:txBody>
      </p:sp>
      <p:sp>
        <p:nvSpPr>
          <p:cNvPr id="50" name="Text 42"/>
          <p:cNvSpPr/>
          <p:nvPr/>
        </p:nvSpPr>
        <p:spPr>
          <a:xfrm>
            <a:off x="8138160" y="8869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Shorticles</a:t>
            </a:r>
            <a:endParaRPr lang="en-US" sz="680" dirty="0"/>
          </a:p>
        </p:txBody>
      </p:sp>
      <p:sp>
        <p:nvSpPr>
          <p:cNvPr id="51" name="Shape 43"/>
          <p:cNvSpPr/>
          <p:nvPr/>
        </p:nvSpPr>
        <p:spPr>
          <a:xfrm>
            <a:off x="9171432" y="502920"/>
            <a:ext cx="1005840" cy="713232"/>
          </a:xfrm>
          <a:prstGeom prst="rect">
            <a:avLst/>
          </a:prstGeom>
          <a:solidFill>
            <a:srgbClr val="EEF3FA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44"/>
          <p:cNvSpPr/>
          <p:nvPr/>
        </p:nvSpPr>
        <p:spPr>
          <a:xfrm>
            <a:off x="9171432" y="52120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</a:t>
            </a:r>
            <a:endParaRPr lang="en-US" sz="2000" dirty="0"/>
          </a:p>
        </p:txBody>
      </p:sp>
      <p:sp>
        <p:nvSpPr>
          <p:cNvPr id="53" name="Text 45"/>
          <p:cNvSpPr/>
          <p:nvPr/>
        </p:nvSpPr>
        <p:spPr>
          <a:xfrm>
            <a:off x="9171432" y="8869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</a:t>
            </a:r>
            <a:endParaRPr lang="en-US" sz="680" dirty="0"/>
          </a:p>
        </p:txBody>
      </p:sp>
      <p:sp>
        <p:nvSpPr>
          <p:cNvPr id="54" name="Shape 46"/>
          <p:cNvSpPr/>
          <p:nvPr/>
        </p:nvSpPr>
        <p:spPr>
          <a:xfrm>
            <a:off x="10204704" y="502920"/>
            <a:ext cx="1005840" cy="713232"/>
          </a:xfrm>
          <a:prstGeom prst="rect">
            <a:avLst/>
          </a:prstGeom>
          <a:solidFill>
            <a:srgbClr val="EEF3FA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47"/>
          <p:cNvSpPr/>
          <p:nvPr/>
        </p:nvSpPr>
        <p:spPr>
          <a:xfrm>
            <a:off x="10204704" y="52120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56" name="Text 48"/>
          <p:cNvSpPr/>
          <p:nvPr/>
        </p:nvSpPr>
        <p:spPr>
          <a:xfrm>
            <a:off x="10204704" y="8869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US/Euro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Patents</a:t>
            </a:r>
            <a:endParaRPr lang="en-US" sz="680" dirty="0"/>
          </a:p>
        </p:txBody>
      </p:sp>
      <p:sp>
        <p:nvSpPr>
          <p:cNvPr id="57" name="Shape 49"/>
          <p:cNvSpPr/>
          <p:nvPr/>
        </p:nvSpPr>
        <p:spPr>
          <a:xfrm>
            <a:off x="11237976" y="502920"/>
            <a:ext cx="1005840" cy="713232"/>
          </a:xfrm>
          <a:prstGeom prst="rect">
            <a:avLst/>
          </a:prstGeom>
          <a:solidFill>
            <a:srgbClr val="EEF3FA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0"/>
          <p:cNvSpPr/>
          <p:nvPr/>
        </p:nvSpPr>
        <p:spPr>
          <a:xfrm>
            <a:off x="11237976" y="52120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59" name="Text 51"/>
          <p:cNvSpPr/>
          <p:nvPr/>
        </p:nvSpPr>
        <p:spPr>
          <a:xfrm>
            <a:off x="11237976" y="88696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</a:t>
            </a:r>
            <a:endParaRPr lang="en-US" sz="680" dirty="0"/>
          </a:p>
          <a:p>
            <a:pPr marL="0" indent="0" algn="ctr">
              <a:buNone/>
            </a:pPr>
            <a:r>
              <a:rPr lang="en-US" sz="68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680" dirty="0"/>
          </a:p>
        </p:txBody>
      </p:sp>
      <p:sp>
        <p:nvSpPr>
          <p:cNvPr id="60" name="Shape 52"/>
          <p:cNvSpPr/>
          <p:nvPr/>
        </p:nvSpPr>
        <p:spPr>
          <a:xfrm>
            <a:off x="2971800" y="1298448"/>
            <a:ext cx="9144000" cy="21945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3"/>
          <p:cNvSpPr/>
          <p:nvPr/>
        </p:nvSpPr>
        <p:spPr>
          <a:xfrm>
            <a:off x="3063240" y="1298448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 BY PLATFORM</a:t>
            </a:r>
            <a:endParaRPr lang="en-US" sz="800" dirty="0"/>
          </a:p>
        </p:txBody>
      </p:sp>
      <p:sp>
        <p:nvSpPr>
          <p:cNvPr id="62" name="Shape 54"/>
          <p:cNvSpPr/>
          <p:nvPr/>
        </p:nvSpPr>
        <p:spPr>
          <a:xfrm>
            <a:off x="2971800" y="1545336"/>
            <a:ext cx="9144000" cy="237744"/>
          </a:xfrm>
          <a:prstGeom prst="rect">
            <a:avLst/>
          </a:prstGeom>
          <a:solidFill>
            <a:srgbClr val="EEF3FA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55"/>
          <p:cNvSpPr/>
          <p:nvPr/>
        </p:nvSpPr>
        <p:spPr>
          <a:xfrm>
            <a:off x="3035808" y="15636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CIO.com</a:t>
            </a:r>
            <a:endParaRPr lang="en-US" sz="780" dirty="0"/>
          </a:p>
        </p:txBody>
      </p:sp>
      <p:sp>
        <p:nvSpPr>
          <p:cNvPr id="64" name="Text 56"/>
          <p:cNvSpPr/>
          <p:nvPr/>
        </p:nvSpPr>
        <p:spPr>
          <a:xfrm>
            <a:off x="5074920" y="15636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articles</a:t>
            </a:r>
            <a:endParaRPr lang="en-US" sz="780" dirty="0"/>
          </a:p>
        </p:txBody>
      </p:sp>
      <p:sp>
        <p:nvSpPr>
          <p:cNvPr id="65" name="Text 57"/>
          <p:cNvSpPr/>
          <p:nvPr/>
        </p:nvSpPr>
        <p:spPr>
          <a:xfrm>
            <a:off x="6126480" y="156362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AI, LLMs, SDLC, Enterprise Architecture, Cloud FinOps</a:t>
            </a:r>
            <a:endParaRPr lang="en-US" sz="780" dirty="0"/>
          </a:p>
        </p:txBody>
      </p:sp>
      <p:sp>
        <p:nvSpPr>
          <p:cNvPr id="66" name="Shape 58"/>
          <p:cNvSpPr/>
          <p:nvPr/>
        </p:nvSpPr>
        <p:spPr>
          <a:xfrm>
            <a:off x="2971800" y="1799539"/>
            <a:ext cx="91440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59"/>
          <p:cNvSpPr/>
          <p:nvPr/>
        </p:nvSpPr>
        <p:spPr>
          <a:xfrm>
            <a:off x="3035808" y="1817827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CXOTech Magazine</a:t>
            </a:r>
            <a:endParaRPr lang="en-US" sz="780" dirty="0"/>
          </a:p>
        </p:txBody>
      </p:sp>
      <p:sp>
        <p:nvSpPr>
          <p:cNvPr id="68" name="Text 60"/>
          <p:cNvSpPr/>
          <p:nvPr/>
        </p:nvSpPr>
        <p:spPr>
          <a:xfrm>
            <a:off x="5074920" y="1817827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16+ articles</a:t>
            </a:r>
            <a:endParaRPr lang="en-US" sz="780" dirty="0"/>
          </a:p>
        </p:txBody>
      </p:sp>
      <p:sp>
        <p:nvSpPr>
          <p:cNvPr id="69" name="Text 61"/>
          <p:cNvSpPr/>
          <p:nvPr/>
        </p:nvSpPr>
        <p:spPr>
          <a:xfrm>
            <a:off x="6126480" y="1817827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GenAI, FinOps, SDLC Innovation, SLMs, AI CoE, Vibe Coding</a:t>
            </a:r>
            <a:endParaRPr lang="en-US" sz="780" dirty="0"/>
          </a:p>
        </p:txBody>
      </p:sp>
      <p:sp>
        <p:nvSpPr>
          <p:cNvPr id="70" name="Shape 62"/>
          <p:cNvSpPr/>
          <p:nvPr/>
        </p:nvSpPr>
        <p:spPr>
          <a:xfrm>
            <a:off x="2971800" y="2053742"/>
            <a:ext cx="9144000" cy="237744"/>
          </a:xfrm>
          <a:prstGeom prst="rect">
            <a:avLst/>
          </a:prstGeom>
          <a:solidFill>
            <a:srgbClr val="EEF3FA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3"/>
          <p:cNvSpPr/>
          <p:nvPr/>
        </p:nvSpPr>
        <p:spPr>
          <a:xfrm>
            <a:off x="3035808" y="207203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Governance</a:t>
            </a:r>
            <a:endParaRPr lang="en-US" sz="780" dirty="0"/>
          </a:p>
        </p:txBody>
      </p:sp>
      <p:sp>
        <p:nvSpPr>
          <p:cNvPr id="72" name="Text 64"/>
          <p:cNvSpPr/>
          <p:nvPr/>
        </p:nvSpPr>
        <p:spPr>
          <a:xfrm>
            <a:off x="5074920" y="207203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18+ articles</a:t>
            </a:r>
            <a:endParaRPr lang="en-US" sz="780" dirty="0"/>
          </a:p>
        </p:txBody>
      </p:sp>
      <p:sp>
        <p:nvSpPr>
          <p:cNvPr id="73" name="Text 65"/>
          <p:cNvSpPr/>
          <p:nvPr/>
        </p:nvSpPr>
        <p:spPr>
          <a:xfrm>
            <a:off x="6126480" y="207203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GenAI, Cloud, FinOps/GreenOps, Microservices, LLM/SLM, BFSI</a:t>
            </a:r>
            <a:endParaRPr lang="en-US" sz="780" dirty="0"/>
          </a:p>
        </p:txBody>
      </p:sp>
      <p:sp>
        <p:nvSpPr>
          <p:cNvPr id="74" name="Shape 66"/>
          <p:cNvSpPr/>
          <p:nvPr/>
        </p:nvSpPr>
        <p:spPr>
          <a:xfrm>
            <a:off x="2971800" y="2307946"/>
            <a:ext cx="91440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Text 67"/>
          <p:cNvSpPr/>
          <p:nvPr/>
        </p:nvSpPr>
        <p:spPr>
          <a:xfrm>
            <a:off x="3035808" y="232623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For You</a:t>
            </a:r>
            <a:endParaRPr lang="en-US" sz="780" dirty="0"/>
          </a:p>
        </p:txBody>
      </p:sp>
      <p:sp>
        <p:nvSpPr>
          <p:cNvPr id="76" name="Text 68"/>
          <p:cNvSpPr/>
          <p:nvPr/>
        </p:nvSpPr>
        <p:spPr>
          <a:xfrm>
            <a:off x="5074920" y="232623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articles</a:t>
            </a:r>
            <a:endParaRPr lang="en-US" sz="780" dirty="0"/>
          </a:p>
        </p:txBody>
      </p:sp>
      <p:sp>
        <p:nvSpPr>
          <p:cNvPr id="77" name="Text 69"/>
          <p:cNvSpPr/>
          <p:nvPr/>
        </p:nvSpPr>
        <p:spPr>
          <a:xfrm>
            <a:off x="6126480" y="232623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Blockchain, AI/ML, Java, Quantum Computing, DevOps, IoT</a:t>
            </a:r>
            <a:endParaRPr lang="en-US" sz="780" dirty="0"/>
          </a:p>
        </p:txBody>
      </p:sp>
      <p:sp>
        <p:nvSpPr>
          <p:cNvPr id="78" name="Shape 70"/>
          <p:cNvSpPr/>
          <p:nvPr/>
        </p:nvSpPr>
        <p:spPr>
          <a:xfrm>
            <a:off x="2971800" y="2562149"/>
            <a:ext cx="9144000" cy="237744"/>
          </a:xfrm>
          <a:prstGeom prst="rect">
            <a:avLst/>
          </a:prstGeom>
          <a:solidFill>
            <a:srgbClr val="EEF3FA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1"/>
          <p:cNvSpPr/>
          <p:nvPr/>
        </p:nvSpPr>
        <p:spPr>
          <a:xfrm>
            <a:off x="3035808" y="2580437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Wipro Tech Blogs (Medium)</a:t>
            </a:r>
            <a:endParaRPr lang="en-US" sz="780" dirty="0"/>
          </a:p>
        </p:txBody>
      </p:sp>
      <p:sp>
        <p:nvSpPr>
          <p:cNvPr id="80" name="Text 72"/>
          <p:cNvSpPr/>
          <p:nvPr/>
        </p:nvSpPr>
        <p:spPr>
          <a:xfrm>
            <a:off x="5074920" y="2580437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35+ articles</a:t>
            </a:r>
            <a:endParaRPr lang="en-US" sz="780" dirty="0"/>
          </a:p>
        </p:txBody>
      </p:sp>
      <p:sp>
        <p:nvSpPr>
          <p:cNvPr id="81" name="Text 73"/>
          <p:cNvSpPr/>
          <p:nvPr/>
        </p:nvSpPr>
        <p:spPr>
          <a:xfrm>
            <a:off x="6126480" y="2580437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AI, AWS/Azure/GCP, FinOps, BFSI, Multi-agent solutions</a:t>
            </a:r>
            <a:endParaRPr lang="en-US" sz="780" dirty="0"/>
          </a:p>
        </p:txBody>
      </p:sp>
      <p:sp>
        <p:nvSpPr>
          <p:cNvPr id="82" name="Shape 74"/>
          <p:cNvSpPr/>
          <p:nvPr/>
        </p:nvSpPr>
        <p:spPr>
          <a:xfrm>
            <a:off x="2971800" y="2816352"/>
            <a:ext cx="91440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Text 75"/>
          <p:cNvSpPr/>
          <p:nvPr/>
        </p:nvSpPr>
        <p:spPr>
          <a:xfrm>
            <a:off x="3035808" y="28346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DZone + Enlore + Tealfeed</a:t>
            </a:r>
            <a:endParaRPr lang="en-US" sz="780" dirty="0"/>
          </a:p>
        </p:txBody>
      </p:sp>
      <p:sp>
        <p:nvSpPr>
          <p:cNvPr id="84" name="Text 76"/>
          <p:cNvSpPr/>
          <p:nvPr/>
        </p:nvSpPr>
        <p:spPr>
          <a:xfrm>
            <a:off x="5074920" y="28346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articles</a:t>
            </a:r>
            <a:endParaRPr lang="en-US" sz="780" dirty="0"/>
          </a:p>
        </p:txBody>
      </p:sp>
      <p:sp>
        <p:nvSpPr>
          <p:cNvPr id="85" name="Text 77"/>
          <p:cNvSpPr/>
          <p:nvPr/>
        </p:nvSpPr>
        <p:spPr>
          <a:xfrm>
            <a:off x="6126480" y="283464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Kubernetes, Java, FinOps, Cloud Strategy, GenAI, Multi-cloud</a:t>
            </a:r>
            <a:endParaRPr lang="en-US" sz="780" dirty="0"/>
          </a:p>
        </p:txBody>
      </p:sp>
      <p:sp>
        <p:nvSpPr>
          <p:cNvPr id="86" name="Shape 78"/>
          <p:cNvSpPr/>
          <p:nvPr/>
        </p:nvSpPr>
        <p:spPr>
          <a:xfrm>
            <a:off x="2971800" y="3070555"/>
            <a:ext cx="9144000" cy="237744"/>
          </a:xfrm>
          <a:prstGeom prst="rect">
            <a:avLst/>
          </a:prstGeom>
          <a:solidFill>
            <a:srgbClr val="EEF3FA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Text 79"/>
          <p:cNvSpPr/>
          <p:nvPr/>
        </p:nvSpPr>
        <p:spPr>
          <a:xfrm>
            <a:off x="3035808" y="3088843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Journals (SCOPUS/Springer/IEEE)</a:t>
            </a:r>
            <a:endParaRPr lang="en-US" sz="780" dirty="0"/>
          </a:p>
        </p:txBody>
      </p:sp>
      <p:sp>
        <p:nvSpPr>
          <p:cNvPr id="88" name="Text 80"/>
          <p:cNvSpPr/>
          <p:nvPr/>
        </p:nvSpPr>
        <p:spPr>
          <a:xfrm>
            <a:off x="5074920" y="3088843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papers</a:t>
            </a:r>
            <a:endParaRPr lang="en-US" sz="780" dirty="0"/>
          </a:p>
        </p:txBody>
      </p:sp>
      <p:sp>
        <p:nvSpPr>
          <p:cNvPr id="89" name="Text 81"/>
          <p:cNvSpPr/>
          <p:nvPr/>
        </p:nvSpPr>
        <p:spPr>
          <a:xfrm>
            <a:off x="6126480" y="3088843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Learning, Blockchain, Agentic AI, BFSI, RL, BCI</a:t>
            </a:r>
            <a:endParaRPr lang="en-US" sz="780" dirty="0"/>
          </a:p>
        </p:txBody>
      </p:sp>
      <p:sp>
        <p:nvSpPr>
          <p:cNvPr id="90" name="Shape 82"/>
          <p:cNvSpPr/>
          <p:nvPr/>
        </p:nvSpPr>
        <p:spPr>
          <a:xfrm>
            <a:off x="2971800" y="3324758"/>
            <a:ext cx="91440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Text 83"/>
          <p:cNvSpPr/>
          <p:nvPr/>
        </p:nvSpPr>
        <p:spPr>
          <a:xfrm>
            <a:off x="3035808" y="334304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Cutter IT Journal (US)</a:t>
            </a:r>
            <a:endParaRPr lang="en-US" sz="780" dirty="0"/>
          </a:p>
        </p:txBody>
      </p:sp>
      <p:sp>
        <p:nvSpPr>
          <p:cNvPr id="92" name="Text 84"/>
          <p:cNvSpPr/>
          <p:nvPr/>
        </p:nvSpPr>
        <p:spPr>
          <a:xfrm>
            <a:off x="5074920" y="334304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articles</a:t>
            </a:r>
            <a:endParaRPr lang="en-US" sz="780" dirty="0"/>
          </a:p>
        </p:txBody>
      </p:sp>
      <p:sp>
        <p:nvSpPr>
          <p:cNvPr id="93" name="Text 85"/>
          <p:cNvSpPr/>
          <p:nvPr/>
        </p:nvSpPr>
        <p:spPr>
          <a:xfrm>
            <a:off x="6126480" y="3343046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as a Service, FinTech Architecture, SmartCity</a:t>
            </a:r>
            <a:endParaRPr lang="en-US" sz="780" dirty="0"/>
          </a:p>
        </p:txBody>
      </p:sp>
      <p:sp>
        <p:nvSpPr>
          <p:cNvPr id="94" name="Shape 86"/>
          <p:cNvSpPr/>
          <p:nvPr/>
        </p:nvSpPr>
        <p:spPr>
          <a:xfrm>
            <a:off x="2971800" y="4270248"/>
            <a:ext cx="9144000" cy="21945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87"/>
          <p:cNvSpPr/>
          <p:nvPr/>
        </p:nvSpPr>
        <p:spPr>
          <a:xfrm>
            <a:off x="3063240" y="4270248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 &amp; PROFESSIONAL MEMBERSHIPS</a:t>
            </a:r>
            <a:endParaRPr lang="en-US" sz="800" dirty="0"/>
          </a:p>
        </p:txBody>
      </p:sp>
      <p:sp>
        <p:nvSpPr>
          <p:cNvPr id="96" name="Shape 88"/>
          <p:cNvSpPr/>
          <p:nvPr/>
        </p:nvSpPr>
        <p:spPr>
          <a:xfrm>
            <a:off x="2999232" y="4544568"/>
            <a:ext cx="896112" cy="731520"/>
          </a:xfrm>
          <a:prstGeom prst="rect">
            <a:avLst/>
          </a:prstGeom>
          <a:solidFill>
            <a:srgbClr val="EEF3FA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50108" y="4599432"/>
            <a:ext cx="594360" cy="182880"/>
          </a:xfrm>
          <a:prstGeom prst="rect">
            <a:avLst/>
          </a:prstGeom>
        </p:spPr>
      </p:pic>
      <p:sp>
        <p:nvSpPr>
          <p:cNvPr id="98" name="Text 89"/>
          <p:cNvSpPr/>
          <p:nvPr/>
        </p:nvSpPr>
        <p:spPr>
          <a:xfrm>
            <a:off x="2999232" y="4837176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680" dirty="0"/>
          </a:p>
          <a:p>
            <a:pPr marL="0" indent="0" algn="ctr">
              <a:buNone/>
            </a:pPr>
            <a:r>
              <a:rPr lang="en-US" sz="68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/ AI / Data</a:t>
            </a:r>
            <a:endParaRPr lang="en-US" sz="680" dirty="0"/>
          </a:p>
        </p:txBody>
      </p:sp>
      <p:sp>
        <p:nvSpPr>
          <p:cNvPr id="99" name="Shape 90"/>
          <p:cNvSpPr/>
          <p:nvPr/>
        </p:nvSpPr>
        <p:spPr>
          <a:xfrm>
            <a:off x="3931920" y="4544568"/>
            <a:ext cx="896112" cy="731520"/>
          </a:xfrm>
          <a:prstGeom prst="rect">
            <a:avLst/>
          </a:prstGeom>
          <a:solidFill>
            <a:srgbClr val="EEF3FA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82796" y="4599432"/>
            <a:ext cx="594360" cy="182880"/>
          </a:xfrm>
          <a:prstGeom prst="rect">
            <a:avLst/>
          </a:prstGeom>
        </p:spPr>
      </p:pic>
      <p:sp>
        <p:nvSpPr>
          <p:cNvPr id="101" name="Text 91"/>
          <p:cNvSpPr/>
          <p:nvPr/>
        </p:nvSpPr>
        <p:spPr>
          <a:xfrm>
            <a:off x="3931920" y="4837176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680" dirty="0"/>
          </a:p>
          <a:p>
            <a:pPr marL="0" indent="0" algn="ctr">
              <a:buNone/>
            </a:pPr>
            <a:r>
              <a:rPr lang="en-US" sz="68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Architect</a:t>
            </a:r>
            <a:endParaRPr lang="en-US" sz="680" dirty="0"/>
          </a:p>
        </p:txBody>
      </p:sp>
      <p:sp>
        <p:nvSpPr>
          <p:cNvPr id="102" name="Shape 92"/>
          <p:cNvSpPr/>
          <p:nvPr/>
        </p:nvSpPr>
        <p:spPr>
          <a:xfrm>
            <a:off x="4864608" y="4544568"/>
            <a:ext cx="896112" cy="731520"/>
          </a:xfrm>
          <a:prstGeom prst="rect">
            <a:avLst/>
          </a:prstGeom>
          <a:solidFill>
            <a:srgbClr val="EEF3FA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3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15484" y="4599432"/>
            <a:ext cx="594360" cy="182880"/>
          </a:xfrm>
          <a:prstGeom prst="rect">
            <a:avLst/>
          </a:prstGeom>
        </p:spPr>
      </p:pic>
      <p:sp>
        <p:nvSpPr>
          <p:cNvPr id="104" name="Text 93"/>
          <p:cNvSpPr/>
          <p:nvPr/>
        </p:nvSpPr>
        <p:spPr>
          <a:xfrm>
            <a:off x="4864608" y="4837176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</a:t>
            </a:r>
            <a:endParaRPr lang="en-US" sz="680" dirty="0"/>
          </a:p>
          <a:p>
            <a:pPr marL="0" indent="0" algn="ctr">
              <a:buNone/>
            </a:pPr>
            <a:r>
              <a:rPr lang="en-US" sz="68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Leader</a:t>
            </a:r>
            <a:endParaRPr lang="en-US" sz="680" dirty="0"/>
          </a:p>
        </p:txBody>
      </p:sp>
      <p:sp>
        <p:nvSpPr>
          <p:cNvPr id="105" name="Shape 94"/>
          <p:cNvSpPr/>
          <p:nvPr/>
        </p:nvSpPr>
        <p:spPr>
          <a:xfrm>
            <a:off x="5797296" y="4544568"/>
            <a:ext cx="896112" cy="731520"/>
          </a:xfrm>
          <a:prstGeom prst="rect">
            <a:avLst/>
          </a:prstGeom>
          <a:solidFill>
            <a:srgbClr val="EEF3FA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6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48172" y="4599432"/>
            <a:ext cx="594360" cy="182880"/>
          </a:xfrm>
          <a:prstGeom prst="rect">
            <a:avLst/>
          </a:prstGeom>
        </p:spPr>
      </p:pic>
      <p:sp>
        <p:nvSpPr>
          <p:cNvPr id="107" name="Text 95"/>
          <p:cNvSpPr/>
          <p:nvPr/>
        </p:nvSpPr>
        <p:spPr>
          <a:xfrm>
            <a:off x="5797296" y="4837176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680" dirty="0"/>
          </a:p>
          <a:p>
            <a:pPr marL="0" indent="0" algn="ctr">
              <a:buNone/>
            </a:pPr>
            <a:r>
              <a:rPr lang="en-US" sz="68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/ Vector AI</a:t>
            </a:r>
            <a:endParaRPr lang="en-US" sz="680" dirty="0"/>
          </a:p>
        </p:txBody>
      </p:sp>
      <p:sp>
        <p:nvSpPr>
          <p:cNvPr id="108" name="Shape 96"/>
          <p:cNvSpPr/>
          <p:nvPr/>
        </p:nvSpPr>
        <p:spPr>
          <a:xfrm>
            <a:off x="6729984" y="4544568"/>
            <a:ext cx="896112" cy="731520"/>
          </a:xfrm>
          <a:prstGeom prst="rect">
            <a:avLst/>
          </a:prstGeom>
          <a:solidFill>
            <a:srgbClr val="EEF3FA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9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80860" y="4599432"/>
            <a:ext cx="594360" cy="182880"/>
          </a:xfrm>
          <a:prstGeom prst="rect">
            <a:avLst/>
          </a:prstGeom>
        </p:spPr>
      </p:pic>
      <p:sp>
        <p:nvSpPr>
          <p:cNvPr id="110" name="Text 97"/>
          <p:cNvSpPr/>
          <p:nvPr/>
        </p:nvSpPr>
        <p:spPr>
          <a:xfrm>
            <a:off x="6729984" y="4837176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</a:t>
            </a:r>
            <a:endParaRPr lang="en-US" sz="680" dirty="0"/>
          </a:p>
          <a:p>
            <a:pPr marL="0" indent="0" algn="ctr">
              <a:buNone/>
            </a:pPr>
            <a:r>
              <a:rPr lang="en-US" sz="68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 Architect</a:t>
            </a:r>
            <a:endParaRPr lang="en-US" sz="680" dirty="0"/>
          </a:p>
        </p:txBody>
      </p:sp>
      <p:sp>
        <p:nvSpPr>
          <p:cNvPr id="111" name="Shape 98"/>
          <p:cNvSpPr/>
          <p:nvPr/>
        </p:nvSpPr>
        <p:spPr>
          <a:xfrm>
            <a:off x="7662672" y="4544568"/>
            <a:ext cx="896112" cy="731520"/>
          </a:xfrm>
          <a:prstGeom prst="rect">
            <a:avLst/>
          </a:prstGeom>
          <a:solidFill>
            <a:srgbClr val="EEF3FA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2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13548" y="4599432"/>
            <a:ext cx="594360" cy="182880"/>
          </a:xfrm>
          <a:prstGeom prst="rect">
            <a:avLst/>
          </a:prstGeom>
        </p:spPr>
      </p:pic>
      <p:sp>
        <p:nvSpPr>
          <p:cNvPr id="113" name="Text 99"/>
          <p:cNvSpPr/>
          <p:nvPr/>
        </p:nvSpPr>
        <p:spPr>
          <a:xfrm>
            <a:off x="7662672" y="4837176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</a:t>
            </a:r>
            <a:endParaRPr lang="en-US" sz="680" dirty="0"/>
          </a:p>
          <a:p>
            <a:pPr marL="0" indent="0" algn="ctr">
              <a:buNone/>
            </a:pPr>
            <a:r>
              <a:rPr lang="en-US" sz="68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Council Expert V2</a:t>
            </a:r>
            <a:endParaRPr lang="en-US" sz="680" dirty="0"/>
          </a:p>
        </p:txBody>
      </p:sp>
      <p:sp>
        <p:nvSpPr>
          <p:cNvPr id="114" name="Shape 100"/>
          <p:cNvSpPr/>
          <p:nvPr/>
        </p:nvSpPr>
        <p:spPr>
          <a:xfrm>
            <a:off x="8595360" y="4544568"/>
            <a:ext cx="896112" cy="731520"/>
          </a:xfrm>
          <a:prstGeom prst="rect">
            <a:avLst/>
          </a:prstGeom>
          <a:solidFill>
            <a:srgbClr val="EEF3FA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5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46236" y="4599432"/>
            <a:ext cx="594360" cy="182880"/>
          </a:xfrm>
          <a:prstGeom prst="rect">
            <a:avLst/>
          </a:prstGeom>
        </p:spPr>
      </p:pic>
      <p:sp>
        <p:nvSpPr>
          <p:cNvPr id="116" name="Text 101"/>
          <p:cNvSpPr/>
          <p:nvPr/>
        </p:nvSpPr>
        <p:spPr>
          <a:xfrm>
            <a:off x="8595360" y="4837176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FinOps</a:t>
            </a:r>
            <a:endParaRPr lang="en-US" sz="680" dirty="0"/>
          </a:p>
          <a:p>
            <a:pPr marL="0" indent="0" algn="ctr">
              <a:buNone/>
            </a:pPr>
            <a:r>
              <a:rPr lang="en-US" sz="68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</a:t>
            </a:r>
            <a:endParaRPr lang="en-US" sz="680" dirty="0"/>
          </a:p>
        </p:txBody>
      </p:sp>
      <p:sp>
        <p:nvSpPr>
          <p:cNvPr id="117" name="Shape 102"/>
          <p:cNvSpPr/>
          <p:nvPr/>
        </p:nvSpPr>
        <p:spPr>
          <a:xfrm>
            <a:off x="9528048" y="4544568"/>
            <a:ext cx="896112" cy="731520"/>
          </a:xfrm>
          <a:prstGeom prst="rect">
            <a:avLst/>
          </a:prstGeom>
          <a:solidFill>
            <a:srgbClr val="EEF3FA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8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78924" y="4599432"/>
            <a:ext cx="594360" cy="182880"/>
          </a:xfrm>
          <a:prstGeom prst="rect">
            <a:avLst/>
          </a:prstGeom>
        </p:spPr>
      </p:pic>
      <p:sp>
        <p:nvSpPr>
          <p:cNvPr id="119" name="Text 103"/>
          <p:cNvSpPr/>
          <p:nvPr/>
        </p:nvSpPr>
        <p:spPr>
          <a:xfrm>
            <a:off x="9528048" y="4837176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</a:t>
            </a:r>
            <a:endParaRPr lang="en-US" sz="680" dirty="0"/>
          </a:p>
          <a:p>
            <a:pPr marL="0" indent="0" algn="ctr">
              <a:buNone/>
            </a:pPr>
            <a:r>
              <a:rPr lang="en-US" sz="68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Member</a:t>
            </a:r>
            <a:endParaRPr lang="en-US" sz="680" dirty="0"/>
          </a:p>
        </p:txBody>
      </p:sp>
      <p:sp>
        <p:nvSpPr>
          <p:cNvPr id="120" name="Shape 104"/>
          <p:cNvSpPr/>
          <p:nvPr/>
        </p:nvSpPr>
        <p:spPr>
          <a:xfrm>
            <a:off x="10460736" y="4544568"/>
            <a:ext cx="896112" cy="731520"/>
          </a:xfrm>
          <a:prstGeom prst="rect">
            <a:avLst/>
          </a:prstGeom>
          <a:solidFill>
            <a:srgbClr val="EEF3FA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1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611612" y="4599432"/>
            <a:ext cx="594360" cy="182880"/>
          </a:xfrm>
          <a:prstGeom prst="rect">
            <a:avLst/>
          </a:prstGeom>
        </p:spPr>
      </p:pic>
      <p:sp>
        <p:nvSpPr>
          <p:cNvPr id="122" name="Text 105"/>
          <p:cNvSpPr/>
          <p:nvPr/>
        </p:nvSpPr>
        <p:spPr>
          <a:xfrm>
            <a:off x="10460736" y="4837176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</a:t>
            </a:r>
            <a:endParaRPr lang="en-US" sz="680" dirty="0"/>
          </a:p>
          <a:p>
            <a:pPr marL="0" indent="0" algn="ctr">
              <a:buNone/>
            </a:pPr>
            <a:r>
              <a:rPr lang="en-US" sz="68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Member</a:t>
            </a:r>
            <a:endParaRPr lang="en-US" sz="680" dirty="0"/>
          </a:p>
        </p:txBody>
      </p:sp>
      <p:sp>
        <p:nvSpPr>
          <p:cNvPr id="123" name="Shape 106"/>
          <p:cNvSpPr/>
          <p:nvPr/>
        </p:nvSpPr>
        <p:spPr>
          <a:xfrm>
            <a:off x="11393424" y="4544568"/>
            <a:ext cx="896112" cy="731520"/>
          </a:xfrm>
          <a:prstGeom prst="rect">
            <a:avLst/>
          </a:prstGeom>
          <a:solidFill>
            <a:srgbClr val="EEF3FA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4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544300" y="4599432"/>
            <a:ext cx="594360" cy="182880"/>
          </a:xfrm>
          <a:prstGeom prst="rect">
            <a:avLst/>
          </a:prstGeom>
        </p:spPr>
      </p:pic>
      <p:sp>
        <p:nvSpPr>
          <p:cNvPr id="125" name="Text 107"/>
          <p:cNvSpPr/>
          <p:nvPr/>
        </p:nvSpPr>
        <p:spPr>
          <a:xfrm>
            <a:off x="11393424" y="4837176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Wipro DMTS</a:t>
            </a:r>
            <a:endParaRPr lang="en-US" sz="680" dirty="0"/>
          </a:p>
          <a:p>
            <a:pPr marL="0" indent="0" algn="ctr">
              <a:buNone/>
            </a:pPr>
            <a:r>
              <a:rPr lang="en-US" sz="68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680" dirty="0"/>
          </a:p>
        </p:txBody>
      </p:sp>
      <p:sp>
        <p:nvSpPr>
          <p:cNvPr id="126" name="Shape 108"/>
          <p:cNvSpPr/>
          <p:nvPr/>
        </p:nvSpPr>
        <p:spPr>
          <a:xfrm>
            <a:off x="2971800" y="5138928"/>
            <a:ext cx="9144000" cy="219456"/>
          </a:xfrm>
          <a:prstGeom prst="rect">
            <a:avLst/>
          </a:prstGeom>
          <a:solidFill>
            <a:srgbClr val="0D2640"/>
          </a:solidFill>
          <a:ln w="12700">
            <a:solidFill>
              <a:srgbClr val="0D26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7" name="Text 109"/>
          <p:cNvSpPr/>
          <p:nvPr/>
        </p:nvSpPr>
        <p:spPr>
          <a:xfrm>
            <a:off x="3063240" y="5138928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HIGHLIGHTS &amp; RECOGNITION</a:t>
            </a:r>
            <a:endParaRPr lang="en-US" sz="800" dirty="0"/>
          </a:p>
        </p:txBody>
      </p:sp>
      <p:sp>
        <p:nvSpPr>
          <p:cNvPr id="128" name="Shape 110"/>
          <p:cNvSpPr/>
          <p:nvPr/>
        </p:nvSpPr>
        <p:spPr>
          <a:xfrm>
            <a:off x="2971800" y="5394960"/>
            <a:ext cx="9144000" cy="219456"/>
          </a:xfrm>
          <a:prstGeom prst="rect">
            <a:avLst/>
          </a:prstGeom>
          <a:solidFill>
            <a:srgbClr val="EEF3FA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9" name="Shape 111"/>
          <p:cNvSpPr/>
          <p:nvPr/>
        </p:nvSpPr>
        <p:spPr>
          <a:xfrm>
            <a:off x="2971800" y="5394960"/>
            <a:ext cx="45720" cy="21945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0" name="Text 112"/>
          <p:cNvSpPr/>
          <p:nvPr/>
        </p:nvSpPr>
        <p:spPr>
          <a:xfrm>
            <a:off x="3072384" y="54132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25 Technologist</a:t>
            </a:r>
            <a:endParaRPr lang="en-US" sz="780" dirty="0"/>
          </a:p>
        </p:txBody>
      </p:sp>
      <p:sp>
        <p:nvSpPr>
          <p:cNvPr id="131" name="Text 113"/>
          <p:cNvSpPr/>
          <p:nvPr/>
        </p:nvSpPr>
        <p:spPr>
          <a:xfrm>
            <a:off x="4480560" y="5413248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to DMTS Master (Top 25) from 2019; Global Charter Lead 2025</a:t>
            </a:r>
            <a:endParaRPr lang="en-US" sz="780" dirty="0"/>
          </a:p>
        </p:txBody>
      </p:sp>
      <p:sp>
        <p:nvSpPr>
          <p:cNvPr id="132" name="Shape 114"/>
          <p:cNvSpPr/>
          <p:nvPr/>
        </p:nvSpPr>
        <p:spPr>
          <a:xfrm>
            <a:off x="2971800" y="5632704"/>
            <a:ext cx="91440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3" name="Shape 115"/>
          <p:cNvSpPr/>
          <p:nvPr/>
        </p:nvSpPr>
        <p:spPr>
          <a:xfrm>
            <a:off x="2971800" y="5632704"/>
            <a:ext cx="45720" cy="21945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4" name="Text 116"/>
          <p:cNvSpPr/>
          <p:nvPr/>
        </p:nvSpPr>
        <p:spPr>
          <a:xfrm>
            <a:off x="3072384" y="565099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Patents</a:t>
            </a:r>
            <a:endParaRPr lang="en-US" sz="780" dirty="0"/>
          </a:p>
        </p:txBody>
      </p:sp>
      <p:sp>
        <p:nvSpPr>
          <p:cNvPr id="135" name="Text 117"/>
          <p:cNvSpPr/>
          <p:nvPr/>
        </p:nvSpPr>
        <p:spPr>
          <a:xfrm>
            <a:off x="4480560" y="5650992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US/Euro patents in AI, Cloud &amp; Blockchain — inventor of Wipro's first Blockchain patent</a:t>
            </a:r>
            <a:endParaRPr lang="en-US" sz="780" dirty="0"/>
          </a:p>
        </p:txBody>
      </p:sp>
      <p:sp>
        <p:nvSpPr>
          <p:cNvPr id="136" name="Shape 118"/>
          <p:cNvSpPr/>
          <p:nvPr/>
        </p:nvSpPr>
        <p:spPr>
          <a:xfrm>
            <a:off x="2971800" y="5870448"/>
            <a:ext cx="9144000" cy="219456"/>
          </a:xfrm>
          <a:prstGeom prst="rect">
            <a:avLst/>
          </a:prstGeom>
          <a:solidFill>
            <a:srgbClr val="EEF3FA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7" name="Shape 119"/>
          <p:cNvSpPr/>
          <p:nvPr/>
        </p:nvSpPr>
        <p:spPr>
          <a:xfrm>
            <a:off x="2971800" y="5870448"/>
            <a:ext cx="45720" cy="21945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8" name="Text 120"/>
          <p:cNvSpPr/>
          <p:nvPr/>
        </p:nvSpPr>
        <p:spPr>
          <a:xfrm>
            <a:off x="3072384" y="588873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Awards</a:t>
            </a:r>
            <a:endParaRPr lang="en-US" sz="780" dirty="0"/>
          </a:p>
        </p:txBody>
      </p:sp>
      <p:sp>
        <p:nvSpPr>
          <p:cNvPr id="139" name="Text 121"/>
          <p:cNvSpPr/>
          <p:nvPr/>
        </p:nvSpPr>
        <p:spPr>
          <a:xfrm>
            <a:off x="4480560" y="5888736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8x Best Knowledge Expert; 2x Outstanding Contribution (Zurich); 2x Credit Suisse Excellence</a:t>
            </a:r>
            <a:endParaRPr lang="en-US" sz="780" dirty="0"/>
          </a:p>
        </p:txBody>
      </p:sp>
      <p:sp>
        <p:nvSpPr>
          <p:cNvPr id="140" name="Shape 122"/>
          <p:cNvSpPr/>
          <p:nvPr/>
        </p:nvSpPr>
        <p:spPr>
          <a:xfrm>
            <a:off x="2971800" y="6108192"/>
            <a:ext cx="91440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1" name="Shape 123"/>
          <p:cNvSpPr/>
          <p:nvPr/>
        </p:nvSpPr>
        <p:spPr>
          <a:xfrm>
            <a:off x="2971800" y="6108192"/>
            <a:ext cx="45720" cy="21945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2" name="Text 124"/>
          <p:cNvSpPr/>
          <p:nvPr/>
        </p:nvSpPr>
        <p:spPr>
          <a:xfrm>
            <a:off x="3072384" y="61264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&amp; Research</a:t>
            </a:r>
            <a:endParaRPr lang="en-US" sz="780" dirty="0"/>
          </a:p>
        </p:txBody>
      </p:sp>
      <p:sp>
        <p:nvSpPr>
          <p:cNvPr id="143" name="Text 125"/>
          <p:cNvSpPr/>
          <p:nvPr/>
        </p:nvSpPr>
        <p:spPr>
          <a:xfrm>
            <a:off x="4480560" y="6126480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published books in 7 languages; 2 Wiley/Springer book chapters; SCOPUS/IEEE journals</a:t>
            </a:r>
            <a:endParaRPr lang="en-US" sz="780" dirty="0"/>
          </a:p>
        </p:txBody>
      </p:sp>
      <p:sp>
        <p:nvSpPr>
          <p:cNvPr id="144" name="Shape 126"/>
          <p:cNvSpPr/>
          <p:nvPr/>
        </p:nvSpPr>
        <p:spPr>
          <a:xfrm>
            <a:off x="2971800" y="6345936"/>
            <a:ext cx="9144000" cy="219456"/>
          </a:xfrm>
          <a:prstGeom prst="rect">
            <a:avLst/>
          </a:prstGeom>
          <a:solidFill>
            <a:srgbClr val="EEF3FA"/>
          </a:solidFill>
          <a:ln w="635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5" name="Shape 127"/>
          <p:cNvSpPr/>
          <p:nvPr/>
        </p:nvSpPr>
        <p:spPr>
          <a:xfrm>
            <a:off x="2971800" y="6345936"/>
            <a:ext cx="45720" cy="21945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6" name="Text 128"/>
          <p:cNvSpPr/>
          <p:nvPr/>
        </p:nvSpPr>
        <p:spPr>
          <a:xfrm>
            <a:off x="3072384" y="636422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Speaker</a:t>
            </a:r>
            <a:endParaRPr lang="en-US" sz="780" dirty="0"/>
          </a:p>
        </p:txBody>
      </p:sp>
      <p:sp>
        <p:nvSpPr>
          <p:cNvPr id="147" name="Text 129"/>
          <p:cNvSpPr/>
          <p:nvPr/>
        </p:nvSpPr>
        <p:spPr>
          <a:xfrm>
            <a:off x="4480560" y="6364224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Invited speaker at international conferences in Zurich, Switzerland &amp; IEEE ComSoc Bangalore</a:t>
            </a:r>
            <a:endParaRPr lang="en-US" sz="780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5CFABFAF-FD39-6981-14D6-89CED73B55B5}"/>
              </a:ext>
            </a:extLst>
          </p:cNvPr>
          <p:cNvSpPr/>
          <p:nvPr/>
        </p:nvSpPr>
        <p:spPr>
          <a:xfrm>
            <a:off x="833120" y="688848"/>
            <a:ext cx="1181608" cy="1244600"/>
          </a:xfrm>
          <a:prstGeom prst="rect">
            <a:avLst/>
          </a:prstGeom>
          <a:blipFill dpi="0" rotWithShape="1"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497</Words>
  <Application>Microsoft Office PowerPoint</Application>
  <PresentationFormat>Widescreen</PresentationFormat>
  <Paragraphs>108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Magesh Kasthuri – Professional Profile</dc:title>
  <dc:subject>PptxGenJS Presentation</dc:subject>
  <dc:creator>PptxGenJS</dc:creator>
  <cp:lastModifiedBy>Dr. Magesh Kasthuri</cp:lastModifiedBy>
  <cp:revision>2</cp:revision>
  <dcterms:created xsi:type="dcterms:W3CDTF">2026-06-01T15:15:59Z</dcterms:created>
  <dcterms:modified xsi:type="dcterms:W3CDTF">2026-06-01T15:27:29Z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e7ded32-6a8c-48b8-8009-ebf9a4e0e083_Enabled">
    <vt:lpwstr>true</vt:lpwstr>
  </property>
  <property fmtid="{D5CDD505-2E9C-101B-9397-08002B2CF9AE}" pid="3" name="MSIP_Label_ce7ded32-6a8c-48b8-8009-ebf9a4e0e083_SetDate">
    <vt:lpwstr>2026-06-01T15:24:24Z</vt:lpwstr>
  </property>
  <property fmtid="{D5CDD505-2E9C-101B-9397-08002B2CF9AE}" pid="4" name="MSIP_Label_ce7ded32-6a8c-48b8-8009-ebf9a4e0e083_Method">
    <vt:lpwstr>Privileged</vt:lpwstr>
  </property>
  <property fmtid="{D5CDD505-2E9C-101B-9397-08002B2CF9AE}" pid="5" name="MSIP_Label_ce7ded32-6a8c-48b8-8009-ebf9a4e0e083_Name">
    <vt:lpwstr>Public - Public</vt:lpwstr>
  </property>
  <property fmtid="{D5CDD505-2E9C-101B-9397-08002B2CF9AE}" pid="6" name="MSIP_Label_ce7ded32-6a8c-48b8-8009-ebf9a4e0e083_SiteId">
    <vt:lpwstr>258ac4e4-146a-411e-9dc8-79a9e12fd6da</vt:lpwstr>
  </property>
  <property fmtid="{D5CDD505-2E9C-101B-9397-08002B2CF9AE}" pid="7" name="MSIP_Label_ce7ded32-6a8c-48b8-8009-ebf9a4e0e083_ActionId">
    <vt:lpwstr>39012957-9e93-4055-b0ed-85e14f100068</vt:lpwstr>
  </property>
  <property fmtid="{D5CDD505-2E9C-101B-9397-08002B2CF9AE}" pid="8" name="MSIP_Label_ce7ded32-6a8c-48b8-8009-ebf9a4e0e083_ContentBits">
    <vt:lpwstr>2</vt:lpwstr>
  </property>
  <property fmtid="{D5CDD505-2E9C-101B-9397-08002B2CF9AE}" pid="9" name="MSIP_Label_ce7ded32-6a8c-48b8-8009-ebf9a4e0e083_Tag">
    <vt:lpwstr>10, 0, 1, 1</vt:lpwstr>
  </property>
  <property fmtid="{D5CDD505-2E9C-101B-9397-08002B2CF9AE}" pid="10" name="ClassificationContentMarkingFooterLocations">
    <vt:lpwstr>Office Theme:3</vt:lpwstr>
  </property>
  <property fmtid="{D5CDD505-2E9C-101B-9397-08002B2CF9AE}" pid="11" name="ClassificationContentMarkingFooterText">
    <vt:lpwstr>Public</vt:lpwstr>
  </property>
</Properties>
</file>